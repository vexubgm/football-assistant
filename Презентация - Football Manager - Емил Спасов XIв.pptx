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Здравейте! Аз съм Емил Спасов от 11 в клас. Ще ви представя моя проект по Разработка на софтуер – Football Manager: система за управление на футболни първенства с чатбот на български език и AI модул, който прогнозира резултати от мачове. Проектът е разработен на Python през цялата учебна година, на 8 етапа.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Проблемът, който решавам: малките първенства – училищни, аматьорски – се водят ръчно. Класирането се смята на ръка, статистиката се губи, а съществуващите системи като Flashscore или Transfermarkt работят само с професионални лиги и не позволяват собствени данни. Едновременно с това AI прогнозите са стандарт в големия футбол, но недостъпни за малките лиги.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Целта е една завършена система, която покрива целия живот на едно първенство. Разбих я на шест основни задачи: базата данни, архитектурата, чатботът с разбиране на естествен език, алгоритмите за програма и класиране, AI модулът за прогнози и уеб интерфейсът с автоматизирани тестове.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Накратко функционалностите: пълно управление на клубове и играчи с валидация, лиги с автоматично генерирана програма, мачове със събития и автоматично класиране, трансферна история, AI прогнози и два интерфейса – чатбот и уеб приложение, които споделят една и съща бизнес логика.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Архитектурата е слоеста: интерфейсите подават командата към NLU модула, той я превръща в интент, Router-ът я насочва към правилната услуга, услугите прилагат бизнес правилата, repositories изпълняват SQL, а най-отдолу е SQLite. Това разделение ми позволи да добавя уеб интерфейса по-късно без да пипна нито една услуга.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Базата е SQLite с 8 таблици – клубове, играчи, лиги, участия, мачове, голове, картони и трансфери. Целостта се пази на ниво база: уникални номера в отбор, валидни позиции и минути, мач не може да е срещу същия отбор. Ключово решение: класирането никога не се записва – то се изчислява от мачовете, така че не може да се разминава с резултатите.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Чатботът разбира над 30 типа команди, описани с регулярни изрази в JSON файл. Всяка команда има български и английски вариант. Тук виждате реални примери от системата – добавяне на клуб, играч, лига и гол. Изборът на regex вместо машинно обучение е съзнателен: командите са структурирани, а поведението е напълно предвидимо и обяснимо.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Програмата на първенството се генерира автоматично по класическия round-robin алгоритъм с ротация. За 6 отбора – 5 кръга и 15 мача, всеки срещу всеки точно веднъж. При нечетен брой отбори алгоритъмът вмъква фиктивна BYE позиция и всеки отбор почива по веднъж. Това е реален изход от системата.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Работният поток на един мач: избирам мача, записвам резултата, добавям головете и картоните с минута. Системата валидира всичко – играчът трябва да е от участващ клуб, минутата между 1 и 120. Вдясно е автоматичното класиране: брои само изиграни мачове и сортира по точки, голова разлика и голове. Никой никога не въвежда точки на ръка.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модулът е rule-based: от реалните изиграни мачове изчислява форма, средни голове и позиция в класирането, комбинира ги в индекс на сила с тегла, добавя домакинско предимство и през логистична функция получава вероятности за победа, равенство и загуба. Избрах обясним модел, защото работи с малко данни и мога да докажа коректността му с тестове – включително че процентите винаги се сумират до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Ето реална прогноза от системата: Левски срещу Лудогорец в нашата демо лига. Левски е втори в класирането с добра форма и получава 53% като домакин, Лудогорец – 19%. Командата работи и на български, и на английски. Ако някой отбор има под 5 изиграни мача, системата честно отказва прогноза вместо да си измисля.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Качеството се гарантира от 181 автоматизирани теста, които се изпълняват върху временна база – покриват услугите, чатбота и AI модула, плюс 14 ръчни сценария и гранични случаи като нечетен брой отбори и минута 120. Тук са три от реалните проблеми, които открих и реших – всеки фикс е защитен с нов тест, за да не се върне грешката.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Целта е постигната: системата работи от край до край, разработена е на 8 етапа с версионен контрол, има чиста архитектура и пълно тестово покритие. Знам и ограниченията ѝ – прогнозата не отчита контузии например – и имам ясен план за развитие: статистика на играчите, елиминации, многопотребителски достъп и по-богат прогнозен модел, когато се натрупат повече данни.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Благодаря за вниманието! С удоволствие ще отговоря на въпроси и мога да покажа системата на живо – и чатбота, и уеб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9050">
            <a:solidFill>
              <a:srgbClr val="1B3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1563624"/>
            <a:ext cx="2011680" cy="2011680"/>
          </a:xfrm>
          <a:prstGeom prst="ellipse">
            <a:avLst/>
          </a:prstGeom>
          <a:solidFill>
            <a:srgbClr val="0C1F15">
              <a:alpha val="0"/>
            </a:srgbClr>
          </a:solidFill>
          <a:ln w="19050">
            <a:solidFill>
              <a:srgbClr val="1B3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566928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64922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FOOTBALL MANAGER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Интелигентна чатбот система за управление на футболни клубове,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първенства и AI прогнози на мачове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2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Емил Николаев Спасов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„в“ клас · Програмист на изкуствен интелект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ПГКМКС „Акад. Благовест Сендов“ – Варна ·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Проблемът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Малките лиги се водят ръчно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Училищни и аматьорски първенства разчитат на тетрадки и Excel таблици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Класирането се смята ръчно – бавно и с грешки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Статистиката за играчи, голове и картони се губи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Програмата на кръговете се съставя на ръка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Професионалните платформи са скъпи и затворени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715000" y="1051560"/>
            <a:ext cx="2971800" cy="3474720"/>
          </a:xfrm>
          <a:prstGeom prst="roundRect">
            <a:avLst>
              <a:gd name="adj" fmla="val 2462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 в големия футбол…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прогнозите са навсякъде – медии, клубове, анализатори.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да не са достъпни и за една училищна лига?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 и задачи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16128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 </a:t>
            </a:r>
            <a:pPr indent="0" marL="0">
              <a:buNone/>
            </a:pPr>
            <a:r>
              <a:rPr lang="en-US" sz="1450" dirty="0">
                <a:solidFill>
                  <a:srgbClr val="F2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 пълния жизнен цикъл на едно първенство – от регистрацията на клубовете до AI прогнозата – чрез ООП, слоеста архитектура и релационна база данни.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241401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2416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Проектиране на база данни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3504" y="28529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таблици, ограничения, индекси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73552" y="228600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1568" y="241401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3"/>
          <p:cNvSpPr/>
          <p:nvPr/>
        </p:nvSpPr>
        <p:spPr>
          <a:xfrm>
            <a:off x="3401568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58768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Слоеста архитектура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419856" y="28529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repositories · database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89904" y="228600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241401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75120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Чатбот (NLU)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36208" y="28529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 на български и английски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5204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" y="364845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3"/>
          <p:cNvSpPr/>
          <p:nvPr/>
        </p:nvSpPr>
        <p:spPr>
          <a:xfrm>
            <a:off x="585216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42416" y="3630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Алгоритми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03504" y="4087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програма, класиране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73552" y="35204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01568" y="364845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Text 28"/>
          <p:cNvSpPr/>
          <p:nvPr/>
        </p:nvSpPr>
        <p:spPr>
          <a:xfrm>
            <a:off x="3401568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858768" y="3630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модул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3419856" y="4087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 1/X/2 от реални данни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089904" y="3520440"/>
            <a:ext cx="2596896" cy="1051560"/>
          </a:xfrm>
          <a:prstGeom prst="roundRect">
            <a:avLst>
              <a:gd name="adj" fmla="val 6957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17920" y="3648456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6" name="Text 33"/>
          <p:cNvSpPr/>
          <p:nvPr/>
        </p:nvSpPr>
        <p:spPr>
          <a:xfrm>
            <a:off x="621792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675120" y="3630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Уеб интерфейс + тестове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236208" y="40873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NiceGUI, 181 pytest теста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Какво умее системата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" y="1289304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990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Клубове и играчи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с пълна валидация: позиции, номера 1–99, статуси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73552" y="114300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19856" y="1289304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39903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5072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Лиги и програма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38144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Автоматичен round-robin за четен и нечетен брой отбори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9904" y="114300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36208" y="1289304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3990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21424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Мачове и класиране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54496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Резултати, голове, картони; класирането се изчислява, не се въвежда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292608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3504" y="3072384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18211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Трансфери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21792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 играч и по клуб, с дата и сума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273552" y="292608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419856" y="3072384"/>
            <a:ext cx="475488" cy="475488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3182112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05072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прогнози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3438144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 1/X/2 само от реално изиграни мачове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089904" y="292608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236208" y="3072384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182112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21424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Чатбот + уеб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6254496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 на BG/EN + NiceGUI интерфейс върху същата логика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– 4 слоя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1529744"/>
          </a:xfrm>
          <a:prstGeom prst="roundRect">
            <a:avLst>
              <a:gd name="adj" fmla="val 4782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pic>
        <p:nvPicPr>
          <p:cNvPr id="8" name="Image 1" descr="diag_dark/arch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8229600" cy="10725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30632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Интерфейсите не съдържат логика – чатботът и уеб приложението извикват едни и същи services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изпълняват само SQL; бизнес правилата живеят в services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Добавянето на нова команда = нов regex шаблон + нов случай в Router, без промяна на останалото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База данни – SQLite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65176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5488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връзки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9+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5800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ограничения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146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Целостта се пази от самата база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" y="3063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име на клуб; номер в рамките на отбор; (лига, сезон)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позиция GK/DF/MF/FW, минута 1–120, домакин ≠ гост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/ SET NULL за зависимите записи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897880" y="251460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Ключово решение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80760" y="30358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Точките и класирането никога не се съхраняват – изчисляват се от изиграните мачове при всяка заявка. Невъзможно е да се „разсинхронизират“.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Чатбот с разбиране на команди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работи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160020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интента, описани декларативно в intents.json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Компилирани regex шаблони – детерминирано и обяснимо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Български и английски варианти на всяка команда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избрана лига и мач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Непознат текст → подсказка help, никога срив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94760" y="1051560"/>
            <a:ext cx="4892040" cy="3520440"/>
          </a:xfrm>
          <a:prstGeom prst="roundRect">
            <a:avLst>
              <a:gd name="adj" fmla="val 1818"/>
            </a:avLst>
          </a:prstGeom>
          <a:solidFill>
            <a:srgbClr val="081209"/>
          </a:solidFill>
          <a:ln w="15240">
            <a:solidFill>
              <a:srgbClr val="2E5C3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41064" y="1170432"/>
            <a:ext cx="82296" cy="82296"/>
          </a:xfrm>
          <a:prstGeom prst="ellipse">
            <a:avLst/>
          </a:prstGeom>
          <a:solidFill>
            <a:srgbClr val="E5746A"/>
          </a:solidFill>
          <a:ln/>
        </p:spPr>
      </p:sp>
      <p:sp>
        <p:nvSpPr>
          <p:cNvPr id="12" name="Shape 9"/>
          <p:cNvSpPr/>
          <p:nvPr/>
        </p:nvSpPr>
        <p:spPr>
          <a:xfrm>
            <a:off x="4087368" y="117043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Shape 10"/>
          <p:cNvSpPr/>
          <p:nvPr/>
        </p:nvSpPr>
        <p:spPr>
          <a:xfrm>
            <a:off x="4233672" y="1170432"/>
            <a:ext cx="82296" cy="82296"/>
          </a:xfrm>
          <a:prstGeom prst="ellipse">
            <a:avLst/>
          </a:prstGeom>
          <a:solidFill>
            <a:srgbClr val="7BC47F"/>
          </a:solidFill>
          <a:ln/>
        </p:spPr>
      </p:sp>
      <p:sp>
        <p:nvSpPr>
          <p:cNvPr id="14" name="Text 11"/>
          <p:cNvSpPr/>
          <p:nvPr/>
        </p:nvSpPr>
        <p:spPr>
          <a:xfrm>
            <a:off x="3959352" y="1344168"/>
            <a:ext cx="45628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add club Левски София 1914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club: Левски (София, founded 1914)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add player Иван Петров in Левски position FW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 9 born 2001-05-14 nat България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player: Иван Петров - FW (#9) in Левски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Създай лига Първа лига 2025/2026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league [1] "Първа лига" for 2025/2026.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Гол Иван Петров Левски 23 минута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added: Иван Петров for Левски in minute 23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Автоматична програма (round-robin)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5577840" cy="3520440"/>
          </a:xfrm>
          <a:prstGeom prst="roundRect">
            <a:avLst>
              <a:gd name="adj" fmla="val 1818"/>
            </a:avLst>
          </a:prstGeom>
          <a:solidFill>
            <a:srgbClr val="081209"/>
          </a:solidFill>
          <a:ln w="15240">
            <a:solidFill>
              <a:srgbClr val="2E5C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" y="1170432"/>
            <a:ext cx="82296" cy="82296"/>
          </a:xfrm>
          <a:prstGeom prst="ellipse">
            <a:avLst/>
          </a:prstGeom>
          <a:solidFill>
            <a:srgbClr val="E5746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117043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170432"/>
            <a:ext cx="82296" cy="82296"/>
          </a:xfrm>
          <a:prstGeom prst="ellipse">
            <a:avLst/>
          </a:prstGeom>
          <a:solidFill>
            <a:srgbClr val="7BC47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344168"/>
            <a:ext cx="5248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generate schedule Първа лига 2025/2026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Генерирана е програма за лига "Първа лига"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сезон 2025/2026. Кръгове: 5. Мачове: 15.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Първи кръг: Берое vs ЦСКА; Ботев vs Славия;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Левски vs Лудогорец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Покажи кръг 1 Първа лига 2025/2026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Кръг 1 | лига "Първа лига" сезон 2025/2026: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 #1: Берое vs ЦСКА   | scheduled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 #2: Ботев vs Славия | scheduled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 #3: Левски vs Лудогорец | scheduled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051560"/>
            <a:ext cx="2423160" cy="3520440"/>
          </a:xfrm>
          <a:prstGeom prst="roundRect">
            <a:avLst>
              <a:gd name="adj" fmla="val 3019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207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Алгоритъм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64808" y="1627632"/>
            <a:ext cx="2057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Кръгов метод с ротация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отбора → 5 кръга, 15 мача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Нечетен брой → BYE (почиващ отбор)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повторни двойки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 генериране се отказва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Мачове, събития, класиране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06240" cy="3520440"/>
          </a:xfrm>
          <a:prstGeom prst="roundRect">
            <a:avLst>
              <a:gd name="adj" fmla="val 1818"/>
            </a:avLst>
          </a:prstGeom>
          <a:solidFill>
            <a:srgbClr val="081209"/>
          </a:solidFill>
          <a:ln w="15240">
            <a:solidFill>
              <a:srgbClr val="2E5C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" y="1170432"/>
            <a:ext cx="82296" cy="82296"/>
          </a:xfrm>
          <a:prstGeom prst="ellipse">
            <a:avLst/>
          </a:prstGeom>
          <a:solidFill>
            <a:srgbClr val="E5746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117043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170432"/>
            <a:ext cx="82296" cy="82296"/>
          </a:xfrm>
          <a:prstGeom prst="ellipse">
            <a:avLst/>
          </a:prstGeom>
          <a:solidFill>
            <a:srgbClr val="7BC47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344168"/>
            <a:ext cx="38770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select match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match #3: Левски vs Лудогорец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Резултат Левски-Лудогорец 2:1 запиши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result: Левски-Лудогорец 2:1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Гол Иван Петров Левски 23 минута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Картон Иван Петров Левски Y 67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Покажи събития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- 23' GOAL   | Иван Петров | Левски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- 67' CARD Y | Иван Петров | Левски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1051560"/>
            <a:ext cx="3794760" cy="3520440"/>
          </a:xfrm>
          <a:prstGeom prst="roundRect">
            <a:avLst>
              <a:gd name="adj" fmla="val 1818"/>
            </a:avLst>
          </a:prstGeom>
          <a:solidFill>
            <a:srgbClr val="081209"/>
          </a:solidFill>
          <a:ln w="15240">
            <a:solidFill>
              <a:srgbClr val="2E5C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38344" y="1170432"/>
            <a:ext cx="82296" cy="82296"/>
          </a:xfrm>
          <a:prstGeom prst="ellipse">
            <a:avLst/>
          </a:prstGeom>
          <a:solidFill>
            <a:srgbClr val="E5746A"/>
          </a:solidFill>
          <a:ln/>
        </p:spPr>
      </p:sp>
      <p:sp>
        <p:nvSpPr>
          <p:cNvPr id="14" name="Shape 11"/>
          <p:cNvSpPr/>
          <p:nvPr/>
        </p:nvSpPr>
        <p:spPr>
          <a:xfrm>
            <a:off x="5184648" y="117043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5" name="Shape 12"/>
          <p:cNvSpPr/>
          <p:nvPr/>
        </p:nvSpPr>
        <p:spPr>
          <a:xfrm>
            <a:off x="5330952" y="1170432"/>
            <a:ext cx="82296" cy="82296"/>
          </a:xfrm>
          <a:prstGeom prst="ellipse">
            <a:avLst/>
          </a:prstGeom>
          <a:solidFill>
            <a:srgbClr val="7BC47F"/>
          </a:solidFill>
          <a:ln/>
        </p:spPr>
      </p:sp>
      <p:sp>
        <p:nvSpPr>
          <p:cNvPr id="16" name="Text 13"/>
          <p:cNvSpPr/>
          <p:nvPr/>
        </p:nvSpPr>
        <p:spPr>
          <a:xfrm>
            <a:off x="5056632" y="1344168"/>
            <a:ext cx="34655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Покажи класиране Първа лига 2025/2026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Отбор      MP W D L GF:GA PTS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Берое       5 4 0 1  9:2   12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Левски      5 3 1 1  6:2   10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ЦСКА        5 2 1 2  4:6    7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Ботев       5 2 0 3  6:6    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Лудогорец   5 2 0 3  5:8    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Славия      5 0 2 3  2:8   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8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само мачове със статус played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8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точки → голова разлика → голове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модул – как мисли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050148"/>
          </a:xfrm>
          <a:prstGeom prst="roundRect">
            <a:avLst>
              <a:gd name="adj" fmla="val 6966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pic>
        <p:nvPicPr>
          <p:cNvPr id="8" name="Image 1" descr="diag_dark/ai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8229600" cy="6386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5146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Индекс на сила на отбора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0.45·форма + 0.25·атака + 0.15·защита + 0.15·класиране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76656" y="3520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= точки от последните 5 мача / 15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 домакинско предимство, логистична функция за 1/X/2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52160" y="251460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Защо rule-based?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35040" y="3035808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Обясним модел, който работи с малко данни (мин. 5 мача на отбор). Невронна мрежа би изисквала стотици мачове. Сумата винаги е точно 100% (метод на най-големите остатъци).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прогноза – реален резултат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937760" cy="3520440"/>
          </a:xfrm>
          <a:prstGeom prst="roundRect">
            <a:avLst>
              <a:gd name="adj" fmla="val 1818"/>
            </a:avLst>
          </a:prstGeom>
          <a:solidFill>
            <a:srgbClr val="081209"/>
          </a:solidFill>
          <a:ln w="15240">
            <a:solidFill>
              <a:srgbClr val="2E5C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" y="1170432"/>
            <a:ext cx="82296" cy="82296"/>
          </a:xfrm>
          <a:prstGeom prst="ellipse">
            <a:avLst/>
          </a:prstGeom>
          <a:solidFill>
            <a:srgbClr val="E5746A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117043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170432"/>
            <a:ext cx="82296" cy="82296"/>
          </a:xfrm>
          <a:prstGeom prst="ellipse">
            <a:avLst/>
          </a:prstGeom>
          <a:solidFill>
            <a:srgbClr val="7BC47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344168"/>
            <a:ext cx="46085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DF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Прогноза Левски срещу Лудогорец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Прогноза за Левски срещу Лудогорец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(Първа лига 2025/2026):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Победа Левски:    53%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Равен:            28%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Победа Лудогорец: 19%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Модел: последни 5 мача, средни GF/GA,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9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текущо класиране и домакински бонус.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05156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X /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9788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Левски  ·  53%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97880" y="2039112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E2417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039112"/>
            <a:ext cx="1356970" cy="27432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2606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Равен  ·  28%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97880" y="2953512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E2417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7880" y="2953512"/>
            <a:ext cx="716890" cy="274320"/>
          </a:xfrm>
          <a:prstGeom prst="roundRect">
            <a:avLst>
              <a:gd name="adj" fmla="val 20000"/>
            </a:avLst>
          </a:prstGeom>
          <a:solidFill>
            <a:srgbClr val="9CC8AC"/>
          </a:solidFill>
          <a:ln/>
        </p:spPr>
      </p:sp>
      <p:sp>
        <p:nvSpPr>
          <p:cNvPr id="20" name="Text 17"/>
          <p:cNvSpPr/>
          <p:nvPr/>
        </p:nvSpPr>
        <p:spPr>
          <a:xfrm>
            <a:off x="589788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Лудогорец  ·  19%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97880" y="3867912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0E2417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7880" y="3867912"/>
            <a:ext cx="486461" cy="274320"/>
          </a:xfrm>
          <a:prstGeom prst="roundRect">
            <a:avLst>
              <a:gd name="adj" fmla="val 20000"/>
            </a:avLst>
          </a:prstGeom>
          <a:solidFill>
            <a:srgbClr val="E5A86A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проверено: 53 + 28 + 19 = 100%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Тестване и качество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автоматизирани pytest теста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65176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ръчни приемателни сценария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5488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гранични случая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11887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58000" y="17510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успешни тестове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14600"/>
            <a:ext cx="8229600" cy="2057400"/>
          </a:xfrm>
          <a:prstGeom prst="roundRect">
            <a:avLst>
              <a:gd name="adj" fmla="val 3556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Открити проблеми → решения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" y="309067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Многословни имена объркваха regex шаблоните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64608" y="30906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93792" y="30906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прецизни шаблони + тестове за „Стара Загора“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5800" y="35661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Вероятностите даваха сума 99% / 101%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64608" y="356616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93792" y="3566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на най-големите остатъци + тест за 100%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85800" y="40416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Класиране при неконсистентни данни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64608" y="404164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193792" y="4041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изрична проверка с ясно съобщение за грешка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73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Manager · Емил Спасов · XI в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Резултати и развитие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6331F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Постигнато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1627632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Пълен жизнен цикъл на първенство – работещ от край до край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етапа на разработка с Git и документация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4200+ реда Python код в чиста слоеста архитектура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Чатбот + уеб интерфейс върху една и съща логика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Обясним AI модул върху реални данни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C402A"/>
          </a:solidFill>
          <a:ln w="12700">
            <a:solidFill>
              <a:srgbClr val="2E5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Следващи стъпки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10328" y="1627632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Голмайстори и статистика на ниво играч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Реванши и турнири с елиминации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Многопотребителски достъп (PostgreSQL, роли)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/ ML модел при повече натрупани мачове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Износ на класиране в PDF и Excel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9050">
            <a:solidFill>
              <a:srgbClr val="1B3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1563624"/>
            <a:ext cx="2011680" cy="2011680"/>
          </a:xfrm>
          <a:prstGeom prst="ellipse">
            <a:avLst/>
          </a:prstGeom>
          <a:solidFill>
            <a:srgbClr val="0C1F15">
              <a:alpha val="0"/>
            </a:srgbClr>
          </a:solidFill>
          <a:ln w="19050">
            <a:solidFill>
              <a:srgbClr val="1B3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91440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9966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Благодаря за вниманието!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Въпроси?  ·  Демо на живо: чатбот и уеб интерфейс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Емил Николаев Спасов · XI „в“ клас · 2025/2026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Manager – интелигентна система за управление на футболни първенства</dc:title>
  <dc:subject>PptxGenJS Presentation</dc:subject>
  <dc:creator>Емил Николаев Спасов</dc:creator>
  <cp:lastModifiedBy>Емил Николаев Спасов</cp:lastModifiedBy>
  <cp:revision>1</cp:revision>
  <dcterms:created xsi:type="dcterms:W3CDTF">2026-06-10T08:52:08Z</dcterms:created>
  <dcterms:modified xsi:type="dcterms:W3CDTF">2026-06-10T08:52:08Z</dcterms:modified>
</cp:coreProperties>
</file>